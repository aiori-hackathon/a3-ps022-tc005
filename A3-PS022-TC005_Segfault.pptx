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22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C82D7894-7FA6-1641-0CA2-ECAC54057862}">
          <p14:sldIdLst>
            <p14:sldId id="276"/>
          </p14:sldIdLst>
        </p14:section>
        <p14:section name="Contents" id="{CF693F55-05BA-5366-6C13-6B8295ACE98A}">
          <p14:sldIdLst>
            <p14:sldId id="257"/>
          </p14:sldIdLst>
        </p14:section>
        <p14:section name="Abstract" id="{5BA21DBD-A6D7-9D34-6A82-EF5A72FE198C}">
          <p14:sldIdLst>
            <p14:sldId id="258"/>
          </p14:sldIdLst>
        </p14:section>
        <p14:section name="Background" id="{3D688077-FC6C-4F03-32CC-4A005408FAF1}">
          <p14:sldIdLst>
            <p14:sldId id="259"/>
          </p14:sldIdLst>
        </p14:section>
        <p14:section name="Literature &amp; RFC Review" id="{F8696E1C-0A2F-B6E5-876E-97925A60DDEF}">
          <p14:sldIdLst>
            <p14:sldId id="260"/>
          </p14:sldIdLst>
        </p14:section>
        <p14:section name="Proposed Solution" id="{06924128-DFB8-D923-FE14-D4C5D8B0CEE3}">
          <p14:sldIdLst>
            <p14:sldId id="261"/>
            <p14:sldId id="262"/>
            <p14:sldId id="263"/>
          </p14:sldIdLst>
        </p14:section>
        <p14:section name="Solution Optimization" id="{E8D9BECB-5774-6F94-71E4-199515CFF2D6}">
          <p14:sldIdLst>
            <p14:sldId id="264"/>
            <p14:sldId id="265"/>
            <p14:sldId id="266"/>
          </p14:sldIdLst>
        </p14:section>
        <p14:section name="Architecture Design (UML Diagram)" id="{6BFFB41F-2E67-526F-D40E-29F080C1DB68}">
          <p14:sldIdLst>
            <p14:sldId id="267"/>
          </p14:sldIdLst>
        </p14:section>
        <p14:section name="Data Flow Diagram" id="{87B12101-BCD3-C10B-65C1-5A1B8D15876E}">
          <p14:sldIdLst>
            <p14:sldId id="268"/>
          </p14:sldIdLst>
        </p14:section>
        <p14:section name="Evaluation Plan" id="{CDD59E4F-5524-3DEC-4188-47BC17BB0D6A}">
          <p14:sldIdLst>
            <p14:sldId id="269"/>
          </p14:sldIdLst>
        </p14:section>
        <p14:section name="Real-World Deployment" id="{A01F729D-D583-4902-EE1A-6A6504C5A8BD}">
          <p14:sldIdLst>
            <p14:sldId id="270"/>
          </p14:sldIdLst>
        </p14:section>
        <p14:section name="Deployment Timeline" id="{EF9C30AE-562C-5F47-CF73-D2CAFE9C7D9B}">
          <p14:sldIdLst>
            <p14:sldId id="271"/>
          </p14:sldIdLst>
        </p14:section>
        <p14:section name="Conclusion" id="{C486EA86-0892-B998-A538-A6C1EC992C59}">
          <p14:sldIdLst>
            <p14:sldId id="272"/>
          </p14:sldIdLst>
        </p14:section>
        <p14:section name="References" id="{B2B6724D-202F-63EC-72CE-3B5A86C58DB5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683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0" y="73152"/>
            <a:ext cx="1219169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100" b="1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D. Mali et al.   •   A3-PS022-TC005   •   October 11, 2026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1304727" y="64008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1"/>
                </a:solidFill>
              </a:rPr>
              <a:t>/ 20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../aiori-logo-4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325880" cy="13167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240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A3-PS022-TC005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154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Segfault: Drop the Flood, Keep the Queries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PS-022: eBPF/XDP Rate Limiting for DNS Query Floods in a Lab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51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Debangan Mali  ·  Saraswata Chatterjee  ·  Partha Chakraborty</a:t>
            </a:r>
            <a:r>
              <a:rPr lang="en-US" sz="1800" dirty="0">
                <a:solidFill>
                  <a:schemeClr val="tx1"/>
                </a:solidFill>
              </a:rPr>
              <a:t> (Faculty)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debanganmali99@gmail.com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Team Segfault, Institute of Engineering and Management, Kolkata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AIORI Hackathon 3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October 11, 2026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6767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Contents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Table of Contents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5029200" cy="231648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1. Problem Description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2. Background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3. Literature and RFC Review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4. Proposed Solution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5. Solution Optimization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6. Solution Architecture and Design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25880"/>
          <a:ext cx="5029200" cy="231648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7. Data Flow Diagram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8. Evaluation Plan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9. Real-World Deployment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10. Timeline of Delivery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11. Conclusion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12. References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700" dirty="0"/>
                    </a:p>
                  </a:txBody>
                  <a:tcPr marL="25400" marR="254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02920" y="51206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Numbers on the right are slide numbers. All performance figures in this deck are targets, to be validated, unless marked measured.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Abstract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Problem Description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Under a DNS query flood, a Linux server fails twice: it burns CPU on every packet, and then drops packets blindly.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Cost: </a:t>
            </a:r>
            <a:r>
              <a:rPr lang="en-US" sz="1900" dirty="0">
                <a:solidFill>
                  <a:schemeClr val="tx1"/>
                </a:solidFill>
              </a:rPr>
              <a:t>each packet pays about 1 to 3 µs of kernel work (skb allocation, netfilter, socket) before any drop.</a:t>
            </a:r>
            <a:endParaRPr lang="en-US" sz="1900" dirty="0"/>
          </a:p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Blind drops: </a:t>
            </a:r>
            <a:r>
              <a:rPr lang="en-US" sz="1900" dirty="0">
                <a:solidFill>
                  <a:schemeClr val="tx1"/>
                </a:solidFill>
              </a:rPr>
              <a:t>a full socket queue drops legitimate and attack queries alike.</a:t>
            </a:r>
            <a:endParaRPr lang="en-US" sz="1900" dirty="0"/>
          </a:p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Spoofing: </a:t>
            </a:r>
            <a:r>
              <a:rPr lang="en-US" sz="1900" dirty="0">
                <a:solidFill>
                  <a:schemeClr val="tx1"/>
                </a:solidFill>
              </a:rPr>
              <a:t>forged source addresses defeat per-source limits.</a:t>
            </a:r>
            <a:endParaRPr lang="en-US" sz="1900" dirty="0"/>
          </a:p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Pulses, random subdomains: </a:t>
            </a:r>
            <a:r>
              <a:rPr lang="en-US" sz="1900" dirty="0">
                <a:solidFill>
                  <a:schemeClr val="tx1"/>
                </a:solidFill>
              </a:rPr>
              <a:t>bursts beat slow averages; unique names bypass the resolver cache.</a:t>
            </a:r>
            <a:endParaRPr lang="en-US" sz="1900" dirty="0"/>
          </a:p>
        </p:txBody>
      </p:sp>
      <p:sp>
        <p:nvSpPr>
          <p:cNvPr id="6" name="ps-box"/>
          <p:cNvSpPr/>
          <p:nvPr/>
        </p:nvSpPr>
        <p:spPr>
          <a:xfrm>
            <a:off x="7178040" y="1783080"/>
            <a:ext cx="4507992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7406640" y="196596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PS-022 asks for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Linux host pair in a lab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bounded UDP/DNS parsing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per-source and global limits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 synthetic flood patterns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comparison with no filter and nftables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throughput, CPU, legit success, drops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Out of scope: </a:t>
            </a:r>
            <a:r>
              <a:rPr lang="en-US" sz="1600" dirty="0">
                <a:solidFill>
                  <a:schemeClr val="tx1"/>
                </a:solidFill>
              </a:rPr>
              <a:t>public floods, full DNS semantics, universal PRSD detection, eliminating reflection.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Background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Background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XDP runs eBPF code inside the NIC driver, before the kernel allocates a socket buffer [1].</a:t>
            </a:r>
            <a:endParaRPr lang="en-US" sz="1600" dirty="0"/>
          </a:p>
        </p:txBody>
      </p:sp>
      <p:pic>
        <p:nvPicPr>
          <p:cNvPr id="5" name="rx-path" descr="../fig/rx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620" y="1600200"/>
            <a:ext cx="7390455" cy="3977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7150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spoofer never receives replies, so it cannot complete a TCP handshake [8] or echo a server cookie [9, 10]: both prove a source is real.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Literature &amp; RFC Review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Literature &amp; RFC Review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XDP rate limiting for DNS already exists; Segfault builds on it and fixes where it breaks.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5855" cy="27432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Prior work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Where it falls short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What Segfault adds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NLnet Labs XDP RRL [2, 3]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Per-source rate limiting in XDP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State churned by spoofed floods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Sketch-first state, lockless GCRA [5, 17]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NLnet Labs XDP Cookies [4]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Cookie holders skip limits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Only cookie-capable clients; no global fairness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TCP verifier (sockops); leased global pool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BIND / Unbound RRL [16]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Limits inside the DNS server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Full kernel cost already paid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Decision in the driver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nftables meter + limit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Limits in netfilter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After skb allocation; no verification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Earlier, cheaper, verification-aware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Sketches in eBPF [6]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In-kernel measurement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Measurement only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Drives promotion to exact limiters</a:t>
                      </a:r>
                      <a:endParaRPr lang="en-US" sz="15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02920" y="55321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Standards used: </a:t>
            </a:r>
            <a:r>
              <a:rPr lang="en-US" sz="1300" dirty="0">
                <a:solidFill>
                  <a:schemeClr val="tx1"/>
                </a:solidFill>
              </a:rPr>
              <a:t>RFC 1035 [7], RFC 7766 DNS over TCP [8], RFC 7873 and RFC 9018 DNS Cookies [9, 10], RFC 8198 aggressive NSEC [11], RFC 8955 FlowSpec [12], RFC 9132 DOTS [13].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Proposed Solution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Proposed Solution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XDP program with three cheap layers, run cheapest first, plus slow-path kernel hooks for proof and feedback.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  Bounded parse and sanity: </a:t>
            </a:r>
            <a:r>
              <a:rPr lang="en-US" sz="1500" dirty="0">
                <a:solidFill>
                  <a:schemeClr val="tx1"/>
                </a:solidFill>
              </a:rPr>
              <a:t>2 VLANs, IPv4/6 (up to 4 extension headers), QNAME up to 255 B; fragments and malformed headers dropped.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  Spoof-resistant state: </a:t>
            </a:r>
            <a:r>
              <a:rPr lang="en-US" sz="1500" dirty="0">
                <a:solidFill>
                  <a:schemeClr val="tx1"/>
                </a:solidFill>
              </a:rPr>
              <a:t>Count-Min Sketch first; only heavy hitters get an exact GCRA limiter.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  Verified priority: </a:t>
            </a:r>
            <a:r>
              <a:rPr lang="en-US" sz="1500" dirty="0">
                <a:solidFill>
                  <a:schemeClr val="tx1"/>
                </a:solidFill>
              </a:rPr>
              <a:t>clients proven by a DNS cookie (checked in XDP [14]) or a TCP handshake (sockops) skip the global and zone limits.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Over budget: </a:t>
            </a:r>
            <a:r>
              <a:rPr lang="en-US" sz="1500" dirty="0">
                <a:solidFill>
                  <a:schemeClr val="tx1"/>
                </a:solidFill>
              </a:rPr>
              <a:t>TC-slip (truncated reply, rate-limited) so real resolvers retry over TCP; otherwise drop.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91640"/>
          <a:ext cx="4782312" cy="21031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Treatment under attack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Verified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Cookie or TCP proof; skips zone and pool limits; still per-source limited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Familiar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Seen often in calm periods; reserved share of the pool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Unknown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Shares the rest; over budget is slipped or dropped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6903720" y="4251960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Feedback: TC egress reads response codes per zone; a 50 ms kernel timer runs the CALM, SUSPECT, ATTACK modes.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Proposed Solution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Proposed Solution: the Three Scenarios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Each flood pattern is beaten by a different layer, and each layer stays cheap under the attack it targets.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5855" cy="319278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How Segfault resolves it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Attack-path cost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A  Single-source flood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Sketch flags the source within a few packets; an exact GCRA entry drops the excess; repeat offenders get short bans.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about 90 ns/pkt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B  Distributed spoofed flood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Random sources are never promoted (no churn); prefix keys (/24 to /16, /64 to /48) catch clusters; the leased pool caps unknown traffic near 90% of server capacity; verified clients keep their share.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about 170 ns/pkt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C  Pulsed random-subdomain flood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GCRA acts per packet, so pulses get no free window; fast-attack, slow-decay modes; zone sketch plus NXDOMAIN ratio flags the hammered zone; a good-name cache keeps popular names working.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about 200 ns/pkt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D  Flash crowd (extra test)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High familiar share and low NXDOMAIN keep the mode in SUSPECT; no slips to familiar clients.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false-positive test</a:t>
                      </a:r>
                      <a:endParaRPr lang="en-US" sz="1450" dirty="0"/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7607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Scenario C is bounded mitigation of a hammered zone, not universal PRSD detection. Costs are estimates to be measured.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Proposed Solution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Proposed Solution: Per-Packet Pseudocode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4" name="code-bg"/>
          <p:cNvSpPr/>
          <p:nvPr/>
        </p:nvSpPr>
        <p:spPr>
          <a:xfrm>
            <a:off x="502920" y="1097280"/>
            <a:ext cx="11185855" cy="4526280"/>
          </a:xfrm>
          <a:prstGeom prst="roundRect">
            <a:avLst>
              <a:gd name="adj" fmla="val 1212"/>
            </a:avLst>
          </a:prstGeom>
          <a:solidFill>
            <a:srgbClr val="F6F7FB"/>
          </a:solidFill>
          <a:ln w="9525">
            <a:solidFill>
              <a:srgbClr val="DDE1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pseudocode"/>
          <p:cNvSpPr txBox="1"/>
          <p:nvPr/>
        </p:nvSpPr>
        <p:spPr>
          <a:xfrm>
            <a:off x="685800" y="1188720"/>
            <a:ext cx="108200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xdp_main(pkt):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= parse_bounded(pkt)             # &lt;=2 VLAN, IPv4/6 + &lt;=4 ext hdrs, UDP/TCP, QNAME &lt;=255B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!p.dns:            return PASS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p.frag_to_dns:     return frag_policy(p)               # drop or per-source GCRA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!hdr_sane(p):      return DROP                         # QR=0, opcode, section counts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p.tcp:             return syn_guard(p)                 # per-source SYN GCRA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 = p.cookie_ok ? (p.src, p.client_cookie) : p.src      # CGNAT users counted apart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cls = p.cookie_ok or verified[p.src] ? VERIFIED : familiar[p.src] ? FAMILIAR : UNKNOWN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 = src_table.lookup(key)                                 # lookup only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!e: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est = cms_add(key, prefixes(p.src), epoch(now))        # conservative update, epoch tags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if est &gt; promote_th(mode, n_epoch) and gcra(&amp;insert_rate): e = src_table.insert(key)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e and !gcra(&amp;e.tat, rate[cls]):        return deny(p, 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cls == VERIFIED:                       return PASS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mode != CALM and zone_flagged(p.zone) and !good_name[p.qname]: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if !gcra(&amp;zone[p.zone].tat, zone_rate):  return deny(p, 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!lease_token(cls, mode):               return deny(p, e)   # ceiling always 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PASS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deny(p, e):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strike(e)                                                 # bans UNKNOWN only, short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slip_ok(p) and !tcp_blocked(prefix(p.src)):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build_tc_reply(p, server_cookie_if_client_sent_one); return XDP_TX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DROP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Solution Optimization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Optimization Proposed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Eight engineering choices turn a basic XDP limiter into one that stays fast and fair under spoofing.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29032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Concern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Before (basic XDP limiter)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After (Segfault)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State under spoofing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LRU insert per new source; legit buckets evicted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Sketch first; only heavy hitters inserted; inserts rate-capped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Per-source limiter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Token bucket with a lock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GCRA: one 64-bit timestamp, one cmpxchg [17]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CPU contention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Shared LRU free list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Per-CPU LRU lists; small promoted set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Global budget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Fixed per-CPU split, unfair under RSS skew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Shared pool leased 64 tokens per atomic; always on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Reaction to pulses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Userspace polling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Kernel timer plus lazy tick in the datapath, ≤ 100 ms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Slip safety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Reply can act as a reflector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Reply ≤ request (+16 B with cookie); slips rate-limited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Real-user fairness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One IP = one user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CGNAT users keyed by client cookie; verified share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Config cost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Map lookup per packet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mmapped config, zero lookups, atomic hot-reload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9834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GCRA: emission interval T = 1/r, tolerance τ = (B − 1)·T. Deny if t &lt; TAT − τ, else TAT ← max(TAT, t) + 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Solution Optimization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Optimization Process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 packet takes the cheapest path that can decide it; only one stage touches shared state.</a:t>
            </a:r>
            <a:endParaRPr lang="en-US" sz="1600" dirty="0"/>
          </a:p>
        </p:txBody>
      </p:sp>
      <p:pic>
        <p:nvPicPr>
          <p:cNvPr id="5" name="flowchart" descr="../fig/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1737360"/>
            <a:ext cx="1087313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Solution Optimization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Optimization: Targets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Definition of done at about 10x server capacity (targets, to be validated).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766560" cy="1625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Legit success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p99 latency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Reaction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 single source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99.5%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&lt; 2x baseline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per packet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  spoofed, distributed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98%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&lt; 3x baseline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≤ 100 ms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  pulsed random-subdomain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98%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&lt; 3x baseline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≤ 100 ms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3977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Guarantees hold while the network link itself is not saturated; link-filling floods are handed upstream (FlowSpec, DOTS).</a:t>
            </a:r>
            <a:endParaRPr lang="en-US" sz="15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737360"/>
          <a:ext cx="3959352" cy="2438400"/>
        </p:xfrm>
        <a:graphic>
          <a:graphicData uri="http://schemas.openxmlformats.org/drawingml/2006/table">
            <a:tbl>
              <a:tblPr/>
              <a:tblGrid>
                <a:gridCol w="2679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Path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Estimate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Calm legit query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150 ns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Spoofed packet, drop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170 ns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Promoted attacker, drop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90 ns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Slip reply (XDP_TX)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250 ns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Kernel path avoided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 to 3 µs</a:t>
                      </a:r>
                      <a:endParaRPr lang="en-US" sz="1500" dirty="0"/>
                    </a:p>
                  </a:txBody>
                  <a:tcPr marL="76200" marR="762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726680" y="4572000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Measured later with kernel BPF statistics (ns per packet).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Architecture Design (UML Diagram)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Solution Architecture &amp; Design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Only the XDP program touches every packet; the other components run off the hot path.</a:t>
            </a:r>
            <a:endParaRPr lang="en-US" sz="1600" dirty="0"/>
          </a:p>
        </p:txBody>
      </p:sp>
      <p:pic>
        <p:nvPicPr>
          <p:cNvPr id="5" name="uml" descr="../fig/u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11185855" cy="38124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1"/>
                </a:solidFill>
              </a:rPr>
              <a:t>Figure: </a:t>
            </a:r>
            <a:r>
              <a:rPr lang="en-US" sz="1300" dirty="0">
                <a:solidFill>
                  <a:schemeClr val="tx1"/>
                </a:solidFill>
              </a:rPr>
              <a:t>System Architecture UML Diagram (deployment and components)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Data Flow Diagram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Data Flow Diagram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Queries flow left to right; learning and control loops feed the stores the datapath reads.</a:t>
            </a:r>
            <a:endParaRPr lang="en-US" sz="1600" dirty="0"/>
          </a:p>
        </p:txBody>
      </p:sp>
      <p:pic>
        <p:nvPicPr>
          <p:cNvPr id="5" name="dfd" descr="../fig/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365" y="1600200"/>
            <a:ext cx="8636965" cy="411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8521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1"/>
                </a:solidFill>
              </a:rPr>
              <a:t>Figure: </a:t>
            </a:r>
            <a:r>
              <a:rPr lang="en-US" sz="1300" dirty="0">
                <a:solidFill>
                  <a:schemeClr val="tx1"/>
                </a:solidFill>
              </a:rPr>
              <a:t>Data Flow Diagram (DFD), level 1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Evaluation Plan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Evaluation Plan and PS-022 Compliance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command, segfault bench run, produces every number.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4592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 scenarios x 5 modes x 5 repeats: no filter, nftables, basic XDP, Segfault, Segfault generic mode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Ablation: remove one feature at a time to show its value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Open-loop legit client (no hidden latency), cookie and TCP aware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Metrics: pps, CPU, softirq, steal time, legit success, p50/p99, drops by stage, ns/pkt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 s warmup, 60 s run, 95% confidence intervals; offered load verified per run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645920"/>
          <a:ext cx="5971032" cy="3063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PS-022 requirement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Where it is met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Host pair, controlled lab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Hyper-V target + generator, private switch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Bounded UDP/DNS parsing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Fixed loop limits, verifier-checked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Per-source and global limits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GCRA source table + leased pool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synthetic patterns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Scenarios A, B, C (+ D)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filter and nftables baselines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runs, same conditions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XDP-capable NIC or generic mode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hv_netvsc native + generic, both measured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Throughput, CPU, success, drops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Bench metrics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public flood testing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Generator locked to lab ranges</a:t>
                      </a:r>
                      <a:endParaRPr lang="en-US" sz="1400" dirty="0"/>
                    </a:p>
                  </a:txBody>
                  <a:tcPr marL="76200" marR="76200" marT="63500" marB="635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Real-World Deployment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Beyond the Lab: Real-World Deployment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same program is designed for clouds and ISP fleets; these are roadmap items after the hackathon core.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3073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Need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Design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Cloud VMs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Native XDP on AWS (ENA), Azure (netvsc, MANA), Google Cloud (gVNIC) [15]; segfault doctor applies MTU, LRO and channel settings, falls back to generic mode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Indian mobile users (CGNAT)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Trust keyed by client cookie, so users sharing one address are counted separately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ISP scale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Fleet controller shares heavy hitters and zone flags; shared cookie secret for anycast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Floods larger than the link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Upstream signalling: BGP FlowSpec or RTBH [12], DOTS to scrubbing providers [13]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Production readiness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.deb/.rpm, container, Helm; versioned config and maps; Prometheus; fuzzing; kernel test matrix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Privacy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full query logs by default; truncated client IPs; aligned with India's DPDP Act 2023</a:t>
                      </a:r>
                      <a:endParaRPr lang="en-US" sz="1500" dirty="0"/>
                    </a:p>
                  </a:txBody>
                  <a:tcPr marL="88900" marR="88900" marT="88900" marB="88900" anchor="ctr">
                    <a:lnL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Deployment Timeline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Timeline of Delivery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4" name="timeline" descr="../fig/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069" y="1051560"/>
            <a:ext cx="9255557" cy="4800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An MVP that meets every PS-022 requirement lands by 20 Oct; Phase 1 scope is frozen.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Conclusion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4" name="lead"/>
          <p:cNvSpPr txBox="1"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Segfault keeps a Linux DNS server answering real users during spoofed, distributed and pulsed floods.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Summary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4884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Decides in the NIC driver for about 100 to 200 ns per packet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Spoof-resistant: sketch-first state, two spoof-proof verifiers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Fair: leased global pool, CGNAT-aware, flash-crowd aware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Measured honestly against no filter and nftables, with ablation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we do not claim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48840"/>
            <a:ext cx="5285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Saving a server whose link is full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Universal PRSD detection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Eliminating reflection attacks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749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4206240"/>
            <a:ext cx="5285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Phase 1 code and demo by 31 Oct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Cloud benchmarks and hardening for the regionals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Shadow-mode pilot on a real resolver; open-source v1.0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References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Bibliography I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4" name="bibliography"/>
          <p:cNvSpPr txBox="1"/>
          <p:nvPr/>
        </p:nvSpPr>
        <p:spPr>
          <a:xfrm>
            <a:off x="502920" y="1234440"/>
            <a:ext cx="111858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[1]  </a:t>
            </a:r>
            <a:r>
              <a:rPr lang="en-US" sz="1400" dirty="0">
                <a:solidFill>
                  <a:schemeClr val="tx1"/>
                </a:solidFill>
              </a:rPr>
              <a:t>T. Høiland-Jørgensen et al. “The eXpress Data Path: Fast Programmable Packet Processing in the Operating System Kernel.” ACM CoNEXT (2018).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[2]  </a:t>
            </a:r>
            <a:r>
              <a:rPr lang="en-US" sz="1400" dirty="0">
                <a:solidFill>
                  <a:schemeClr val="tx1"/>
                </a:solidFill>
              </a:rPr>
              <a:t>W. Toorop, L. Hendriks. “XDPeriments: Tinkering with DNS and XDP.” DNS-OARC 34 (2021).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[3]  </a:t>
            </a:r>
            <a:r>
              <a:rPr lang="en-US" sz="1400" dirty="0">
                <a:solidFill>
                  <a:schemeClr val="tx1"/>
                </a:solidFill>
              </a:rPr>
              <a:t>NLnet Labs. “Journeying into XDP: Augmenting the DNS.” APNIC Blog (Oct. 2020).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[4]  </a:t>
            </a:r>
            <a:r>
              <a:rPr lang="en-US" sz="1400" dirty="0">
                <a:solidFill>
                  <a:schemeClr val="tx1"/>
                </a:solidFill>
              </a:rPr>
              <a:t>NLnet Labs. “Journeying into XDP: Fully-fledged DNS service augmentation.” APNIC Blog (Feb. 2022).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[5]  </a:t>
            </a:r>
            <a:r>
              <a:rPr lang="en-US" sz="1400" dirty="0">
                <a:solidFill>
                  <a:schemeClr val="tx1"/>
                </a:solidFill>
              </a:rPr>
              <a:t>G. Cormode, S. Muthukrishnan. “An improved data stream summary: the count-min sketch and its applications.” Journal of Algorithms 55.1 (2005).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[6]  </a:t>
            </a:r>
            <a:r>
              <a:rPr lang="en-US" sz="1400" dirty="0">
                <a:solidFill>
                  <a:schemeClr val="tx1"/>
                </a:solidFill>
              </a:rPr>
              <a:t>S. Miano et al. “Fast In-kernel Traffic Sketching in eBPF.” ACM SIGCOMM Computer Communication Review (2023).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[7]  </a:t>
            </a:r>
            <a:r>
              <a:rPr lang="en-US" sz="1400" dirty="0">
                <a:solidFill>
                  <a:schemeClr val="tx1"/>
                </a:solidFill>
              </a:rPr>
              <a:t>P. Mockapetris. RFC 1035: Domain Names, Implementation and Specification (1987).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[8]  </a:t>
            </a:r>
            <a:r>
              <a:rPr lang="en-US" sz="1400" dirty="0">
                <a:solidFill>
                  <a:schemeClr val="tx1"/>
                </a:solidFill>
              </a:rPr>
              <a:t>J. Dickinson et al. RFC 7766: DNS Transport over TCP, Implementation Requirements (2016).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[9]  </a:t>
            </a:r>
            <a:r>
              <a:rPr lang="en-US" sz="1400" dirty="0">
                <a:solidFill>
                  <a:schemeClr val="tx1"/>
                </a:solidFill>
              </a:rPr>
              <a:t>D. Eastlake 3rd, M. Andrews. RFC 7873: Domain Name System (DNS) Cookies (2016).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AIORI 3      References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Bibliography II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000D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4" name="bibliography"/>
          <p:cNvSpPr txBox="1"/>
          <p:nvPr/>
        </p:nvSpPr>
        <p:spPr>
          <a:xfrm>
            <a:off x="502920" y="1234440"/>
            <a:ext cx="111858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[10]  </a:t>
            </a:r>
            <a:r>
              <a:rPr lang="en-US" sz="1400" dirty="0">
                <a:solidFill>
                  <a:schemeClr val="tx1"/>
                </a:solidFill>
              </a:rPr>
              <a:t>O. Surý, W. Toorop, D. Eastlake 3rd, M. Andrews. RFC 9018: Interoperable Domain Name System (DNS) Server Cookies (2021).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[11]  </a:t>
            </a:r>
            <a:r>
              <a:rPr lang="en-US" sz="1400" dirty="0">
                <a:solidFill>
                  <a:schemeClr val="tx1"/>
                </a:solidFill>
              </a:rPr>
              <a:t>K. Fujiwara, A. Kato, W. Kumari. RFC 8198: Aggressive Use of DNSSEC-Validated Cache (2017).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[12]  </a:t>
            </a:r>
            <a:r>
              <a:rPr lang="en-US" sz="1400" dirty="0">
                <a:solidFill>
                  <a:schemeClr val="tx1"/>
                </a:solidFill>
              </a:rPr>
              <a:t>C. Loibl et al. RFC 8955: Dissemination of Flow Specification Rules (2020).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[13]  </a:t>
            </a:r>
            <a:r>
              <a:rPr lang="en-US" sz="1400" dirty="0">
                <a:solidFill>
                  <a:schemeClr val="tx1"/>
                </a:solidFill>
              </a:rPr>
              <a:t>M. Boucadair, J. Shallow, T. Reddy.K. RFC 9132: DOTS Signal Channel Specification (2021).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[14]  </a:t>
            </a:r>
            <a:r>
              <a:rPr lang="en-US" sz="1400" dirty="0">
                <a:solidFill>
                  <a:schemeClr val="tx1"/>
                </a:solidFill>
              </a:rPr>
              <a:t>NLnet Labs. Unbound 1.18.0 and 1.21.0 release notes: DNS cookies and cookie-secret rollover (2023, 2024).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[15]  </a:t>
            </a:r>
            <a:r>
              <a:rPr lang="en-US" sz="1400" dirty="0">
                <a:solidFill>
                  <a:schemeClr val="tx1"/>
                </a:solidFill>
              </a:rPr>
              <a:t>Linux kernel documentation: BPF, Hyper-V netvsc, Amazon ENA drivers. docs.kernel.org.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[16]  </a:t>
            </a:r>
            <a:r>
              <a:rPr lang="en-US" sz="1400" dirty="0">
                <a:solidFill>
                  <a:schemeClr val="tx1"/>
                </a:solidFill>
              </a:rPr>
              <a:t>P. Vixie, V. Schryver. “DNS Response Rate Limiting (DNS RRL).” ISC Technical Note (2012).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</a:rPr>
              <a:t>[17]  </a:t>
            </a:r>
            <a:r>
              <a:rPr lang="en-US" sz="1400" dirty="0">
                <a:solidFill>
                  <a:schemeClr val="tx1"/>
                </a:solidFill>
              </a:rPr>
              <a:t>ITU-T. Recommendation I.371: Traffic control and congestion control in B-ISDN (Generic Cell Rate Algorithm).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tx1"/>
                </a:solidFill>
              </a:rPr>
              <a:t>Thank You for Your Attention!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RI Segfault [1791717346382]">
  <a:themeElements>
    <a:clrScheme name="AIORI Segfault">
      <a:dk1>
        <a:srgbClr val="000000"/>
      </a:dk1>
      <a:lt1>
        <a:srgbClr val="FFFFFF"/>
      </a:lt1>
      <a:dk2>
        <a:srgbClr val="04217A"/>
      </a:dk2>
      <a:lt2>
        <a:srgbClr val="ECF0FF"/>
      </a:lt2>
      <a:accent1>
        <a:srgbClr val="0000DC"/>
      </a:accent1>
      <a:accent2>
        <a:srgbClr val="BE1E1E"/>
      </a:accent2>
      <a:accent3>
        <a:srgbClr val="14823C"/>
      </a:accent3>
      <a:accent4>
        <a:srgbClr val="6E6E6E"/>
      </a:accent4>
      <a:accent5>
        <a:srgbClr val="E67814"/>
      </a:accent5>
      <a:accent6>
        <a:srgbClr val="04217A"/>
      </a:accent6>
      <a:hlink>
        <a:srgbClr val="0000DC"/>
      </a:hlink>
      <a:folHlink>
        <a:srgbClr val="04217A"/>
      </a:folHlink>
    </a:clrScheme>
    <a:fontScheme name="AIORI Segfault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5D600CC-B200-429A-8833-5F4C64E3E110}">
  <we:reference id="wa200010725" version="1.0.0.1" store="en-GB" storeType="OMEX"/>
  <we:alternateReferences>
    <we:reference id="WA200010725" version="1.0.0.1" store="" storeType="OMEX"/>
  </we:alternateReferences>
  <we:properties>
    <we:property name="claude.fileId" value="&quot;7333efc2-a85d-4e80-a500-be03846edbc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2798</Words>
  <Application>Microsoft Office PowerPoint</Application>
  <PresentationFormat>Widescreen</PresentationFormat>
  <Paragraphs>340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Courier New</vt:lpstr>
      <vt:lpstr>Times New Roman</vt:lpstr>
      <vt:lpstr>AIORI Segfault [1791717346382]</vt:lpstr>
      <vt:lpstr>PowerPoint Presentation</vt:lpstr>
      <vt:lpstr>Table of Contents</vt:lpstr>
      <vt:lpstr>Problem Description</vt:lpstr>
      <vt:lpstr>Background</vt:lpstr>
      <vt:lpstr>Literature &amp; RFC Review</vt:lpstr>
      <vt:lpstr>Proposed Solution</vt:lpstr>
      <vt:lpstr>Proposed Solution: the Three Scenarios</vt:lpstr>
      <vt:lpstr>Proposed Solution: Per-Packet Pseudocode</vt:lpstr>
      <vt:lpstr>Optimization Proposed</vt:lpstr>
      <vt:lpstr>Optimization Process</vt:lpstr>
      <vt:lpstr>Optimization: Targets</vt:lpstr>
      <vt:lpstr>Solution Architecture &amp; Design</vt:lpstr>
      <vt:lpstr>Data Flow Diagram</vt:lpstr>
      <vt:lpstr>Evaluation Plan and PS-022 Compliance</vt:lpstr>
      <vt:lpstr>Beyond the Lab: Real-World Deployment</vt:lpstr>
      <vt:lpstr>Timeline of Delivery</vt:lpstr>
      <vt:lpstr>Conclusion</vt:lpstr>
      <vt:lpstr>Bibliography I</vt:lpstr>
      <vt:lpstr>Bibliography II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A3-PS022-TC005 Segfault: Drop the Flood, Keep the Queries</dc:title>
  <dc:subject>PptxGenJS Presentation</dc:subject>
  <dc:creator>Debangan Mali</dc:creator>
  <cp:lastModifiedBy>Debangan Mali</cp:lastModifiedBy>
  <cp:revision>3</cp:revision>
  <dcterms:created xsi:type="dcterms:W3CDTF">2026-10-11T11:03:43Z</dcterms:created>
  <dcterms:modified xsi:type="dcterms:W3CDTF">2026-10-11T11:30:23Z</dcterms:modified>
</cp:coreProperties>
</file>